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10" d="100"/>
          <a:sy n="110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Activated users</c:v>
          </c:tx>
          <c:spPr>
            <a:ln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>
                <a:srgbClr val="3D8DFF"/>
              </a:solidFill>
            </c:spPr>
          </c:marker>
          <c:cat>
            <c:strLit>
              <c:ptCount val="3"/>
              <c:pt idx="0">
                <c:v>Launch</c:v>
              </c:pt>
              <c:pt idx="1">
                <c:v>Month 2</c:v>
              </c:pt>
              <c:pt idx="2">
                <c:v>Month 3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180</c:v>
              </c:pt>
              <c:pt idx="2">
                <c:v>225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B177-D44D-83FF-A0F9308EBDAB}"/>
            </c:ext>
          </c:extLst>
        </c:ser>
        <c:ser>
          <c:idx val="1"/>
          <c:order val="1"/>
          <c:tx>
            <c:v>Monthly active users</c:v>
          </c:tx>
          <c:spPr>
            <a:ln w="38100">
              <a:solidFill>
                <a:srgbClr val="6DCBF4"/>
              </a:solidFill>
              <a:prstDash val="solid"/>
            </a:ln>
          </c:spPr>
          <c:marker>
            <c:symbol val="circle"/>
            <c:size val="8"/>
            <c:spPr>
              <a:solidFill>
                <a:srgbClr val="6DCBF4"/>
              </a:solidFill>
            </c:spPr>
          </c:marker>
          <c:cat>
            <c:strLit>
              <c:ptCount val="3"/>
              <c:pt idx="0">
                <c:v>Launch</c:v>
              </c:pt>
              <c:pt idx="1">
                <c:v>Month 2</c:v>
              </c:pt>
              <c:pt idx="2">
                <c:v>Month 3</c:v>
              </c:pt>
            </c:strLit>
          </c:cat>
          <c:val>
            <c:numLit>
              <c:formatCode>General</c:formatCode>
              <c:ptCount val="3"/>
              <c:pt idx="0">
                <c:v>80</c:v>
              </c:pt>
              <c:pt idx="1">
                <c:v>145</c:v>
              </c:pt>
              <c:pt idx="2">
                <c:v>180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B177-D44D-83FF-A0F9308EBD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11111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50"/>
          <c:min val="0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D6673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50"/>
      </c:valAx>
      <c:spPr>
        <a:noFill/>
      </c:spPr>
    </c:plotArea>
    <c:legend>
      <c:legendPos val="b"/>
      <c:overlay val="0"/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1E726F6-24BE-435D-953C-C57BB8A1F074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l"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PRODUCT + PROJECT MANAGEMENT PORTFOLIO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4A1182-9472-487F-B184-DA29B7E17885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7239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398"/>
          </a:bodyPr>
          <a:lstStyle/>
          <a:p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Turning corporate travel requests into self-service booking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551E75-65AE-4516-9E7E-77B32B1D91D6}"/>
              </a:ext>
            </a:extLst>
          </p:cNvPr>
          <p:cNvSpPr>
            <a:spLocks noGrp="1"/>
          </p:cNvSpPr>
          <p:nvPr/>
        </p:nvSpPr>
        <p:spPr>
          <a:xfrm>
            <a:off x="400050" y="3714750"/>
            <a:ext cx="4953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02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2025" b="0" dirty="0" err="1">
                <a:solidFill>
                  <a:srgbClr val="5D6673"/>
                </a:solidFill>
                <a:latin typeface="Arial"/>
                <a:ea typeface="Arial"/>
                <a:cs typeface="Arial"/>
              </a:rPr>
              <a:t>Go</a:t>
            </a:r>
            <a:r>
              <a:rPr lang="en-US" sz="2025" b="0" dirty="0" err="1">
                <a:solidFill>
                  <a:srgbClr val="5D6673"/>
                </a:solidFill>
                <a:latin typeface="Arial"/>
                <a:ea typeface="Arial"/>
                <a:cs typeface="Arial"/>
              </a:rPr>
              <a:t>k</a:t>
            </a:r>
            <a:r>
              <a:rPr sz="2025" b="0" dirty="0" err="1">
                <a:solidFill>
                  <a:srgbClr val="5D6673"/>
                </a:solidFill>
                <a:latin typeface="Arial"/>
                <a:ea typeface="Arial"/>
                <a:cs typeface="Arial"/>
              </a:rPr>
              <a:t>ardinal</a:t>
            </a:r>
            <a:r>
              <a:rPr sz="2025" b="0" dirty="0">
                <a:solidFill>
                  <a:srgbClr val="5D6673"/>
                </a:solidFill>
                <a:latin typeface="Arial"/>
                <a:ea typeface="Arial"/>
                <a:cs typeface="Arial"/>
              </a:rPr>
              <a:t> B2B SaaS MVP</a:t>
            </a:r>
          </a:p>
          <a:p>
            <a:pPr algn="l">
              <a:defRPr sz="202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5D6673"/>
                </a:solidFill>
                <a:latin typeface="Arial"/>
                <a:ea typeface="Arial"/>
                <a:cs typeface="Arial"/>
              </a:rPr>
              <a:t>August 2022–May 2023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5DEAB9-A923-491D-A9DC-BABEA36D7716}"/>
              </a:ext>
            </a:extLst>
          </p:cNvPr>
          <p:cNvSpPr>
            <a:spLocks noGrp="1"/>
          </p:cNvSpPr>
          <p:nvPr/>
        </p:nvSpPr>
        <p:spPr>
          <a:xfrm>
            <a:off x="8239125" y="714375"/>
            <a:ext cx="3143250" cy="4857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0BC6DB-F1F1-4211-979A-12EE01546159}"/>
              </a:ext>
            </a:extLst>
          </p:cNvPr>
          <p:cNvSpPr>
            <a:spLocks noGrp="1"/>
          </p:cNvSpPr>
          <p:nvPr/>
        </p:nvSpPr>
        <p:spPr>
          <a:xfrm>
            <a:off x="8620125" y="1381125"/>
            <a:ext cx="2381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45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45 min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D6CCD1-CAF7-44D8-8B62-BE652745609F}"/>
              </a:ext>
            </a:extLst>
          </p:cNvPr>
          <p:cNvSpPr>
            <a:spLocks noGrp="1"/>
          </p:cNvSpPr>
          <p:nvPr/>
        </p:nvSpPr>
        <p:spPr>
          <a:xfrm>
            <a:off x="8620125" y="2238375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5D6673"/>
                </a:solidFill>
                <a:latin typeface="Arial"/>
                <a:ea typeface="Arial"/>
                <a:cs typeface="Arial"/>
              </a:rPr>
              <a:t>manual booking turnaround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3C8DF0-8E1A-4C35-8AD1-8B08BEDC3ED4}"/>
              </a:ext>
            </a:extLst>
          </p:cNvPr>
          <p:cNvSpPr>
            <a:spLocks noGrp="1"/>
          </p:cNvSpPr>
          <p:nvPr/>
        </p:nvSpPr>
        <p:spPr>
          <a:xfrm>
            <a:off x="9001125" y="3114675"/>
            <a:ext cx="1619250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036D96-3D9B-4E12-BF11-2D67CE953926}"/>
              </a:ext>
            </a:extLst>
          </p:cNvPr>
          <p:cNvSpPr>
            <a:spLocks noGrp="1"/>
          </p:cNvSpPr>
          <p:nvPr/>
        </p:nvSpPr>
        <p:spPr>
          <a:xfrm>
            <a:off x="8620125" y="3476625"/>
            <a:ext cx="2381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4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 min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E5BCCB-060C-403D-A660-A9B649A9C50B}"/>
              </a:ext>
            </a:extLst>
          </p:cNvPr>
          <p:cNvSpPr>
            <a:spLocks noGrp="1"/>
          </p:cNvSpPr>
          <p:nvPr/>
        </p:nvSpPr>
        <p:spPr>
          <a:xfrm>
            <a:off x="8620125" y="4333875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5D6673"/>
                </a:solidFill>
                <a:latin typeface="Arial"/>
                <a:ea typeface="Arial"/>
                <a:cs typeface="Arial"/>
              </a:rPr>
              <a:t>self-service turnaround</a:t>
            </a:r>
          </a:p>
          <a:p>
            <a:pPr algn="ctr">
              <a:defRPr sz="142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5D6673"/>
                </a:solidFill>
                <a:latin typeface="Arial"/>
                <a:ea typeface="Arial"/>
                <a:cs typeface="Arial"/>
              </a:rPr>
              <a:t>Month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C22867-C51E-48B0-8F5E-7F8E88F9AA35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588"/>
          </a:bodyPr>
          <a:lstStyle/>
          <a:p>
            <a:pPr algn="l">
              <a:defRPr sz="12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Agnes Iwaye | Project Manager &amp; Product Manager</a:t>
            </a:r>
          </a:p>
        </p:txBody>
      </p:sp>
    </p:spTree>
    <p:extLst>
      <p:ext uri="{BB962C8B-B14F-4D97-AF65-F5344CB8AC3E}">
        <p14:creationId xmlns:p14="http://schemas.microsoft.com/office/powerpoint/2010/main" val="558884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52A49CAA-5369-4557-B5AD-3307605A11BB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844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request cycles created avoidable fare and itinerary risk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8D0B46-5928-4357-88E2-4E1E0A07AD64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0A3040-AE24-4790-9647-880BFDDA68FE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88E9E3-3259-4769-B8EE-A6E8EB3C5C1F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l"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16B963-8A59-4768-9E81-3D3948591211}"/>
              </a:ext>
            </a:extLst>
          </p:cNvPr>
          <p:cNvSpPr>
            <a:spLocks noGrp="1"/>
          </p:cNvSpPr>
          <p:nvPr/>
        </p:nvSpPr>
        <p:spPr>
          <a:xfrm>
            <a:off x="400050" y="1857375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Agent-mediated booking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2DB8B0-F2A6-4D04-872C-49AA3C0F8428}"/>
              </a:ext>
            </a:extLst>
          </p:cNvPr>
          <p:cNvSpPr>
            <a:spLocks noGrp="1"/>
          </p:cNvSpPr>
          <p:nvPr/>
        </p:nvSpPr>
        <p:spPr>
          <a:xfrm>
            <a:off x="400050" y="2571750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Customer sends request → agent searches → options are returned → customer responds → agent rechecks availability.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6A067-7F3A-4281-8BD0-19128D41958B}"/>
              </a:ext>
            </a:extLst>
          </p:cNvPr>
          <p:cNvSpPr>
            <a:spLocks noGrp="1"/>
          </p:cNvSpPr>
          <p:nvPr/>
        </p:nvSpPr>
        <p:spPr>
          <a:xfrm>
            <a:off x="400050" y="4333875"/>
            <a:ext cx="4953000" cy="1047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999B0C-0981-4A0D-9789-27662D390846}"/>
              </a:ext>
            </a:extLst>
          </p:cNvPr>
          <p:cNvSpPr>
            <a:spLocks noGrp="1"/>
          </p:cNvSpPr>
          <p:nvPr/>
        </p:nvSpPr>
        <p:spPr>
          <a:xfrm>
            <a:off x="619125" y="44577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6667"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Business impact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3552DA-D482-4B62-AA45-E2BBC53ACB79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428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632"/>
          </a:bodyPr>
          <a:lstStyle/>
          <a:p>
            <a:pPr algn="l">
              <a:defRPr sz="142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Slower confirmation • more requotes • limited spend visibility • higher service workload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3F17AF-AB2D-44B4-B8E8-4390A286B1E2}"/>
              </a:ext>
            </a:extLst>
          </p:cNvPr>
          <p:cNvSpPr>
            <a:spLocks noGrp="1"/>
          </p:cNvSpPr>
          <p:nvPr/>
        </p:nvSpPr>
        <p:spPr>
          <a:xfrm>
            <a:off x="6572250" y="14287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OPPORTUNITY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261367-F1E8-4BEE-8DCD-4E934542A96C}"/>
              </a:ext>
            </a:extLst>
          </p:cNvPr>
          <p:cNvSpPr>
            <a:spLocks noGrp="1"/>
          </p:cNvSpPr>
          <p:nvPr/>
        </p:nvSpPr>
        <p:spPr>
          <a:xfrm>
            <a:off x="6572250" y="1857375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Corporate self-service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E3DB84-C231-4746-9E82-84CFC57CCC33}"/>
              </a:ext>
            </a:extLst>
          </p:cNvPr>
          <p:cNvSpPr>
            <a:spLocks noGrp="1"/>
          </p:cNvSpPr>
          <p:nvPr/>
        </p:nvSpPr>
        <p:spPr>
          <a:xfrm>
            <a:off x="6572250" y="2571750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Give authorized customers live search, controlled booking, approval routing, credit visibility and spend reporting in one platform.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31507E-5845-49E4-9FF7-3A81CB57D9FE}"/>
              </a:ext>
            </a:extLst>
          </p:cNvPr>
          <p:cNvSpPr>
            <a:spLocks noGrp="1"/>
          </p:cNvSpPr>
          <p:nvPr/>
        </p:nvSpPr>
        <p:spPr>
          <a:xfrm>
            <a:off x="6572250" y="4333875"/>
            <a:ext cx="4953000" cy="1047750"/>
          </a:xfrm>
          <a:prstGeom prst="rect">
            <a:avLst/>
          </a:prstGeom>
          <a:solidFill>
            <a:srgbClr val="E8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00AB9E-CE58-4820-98EE-3DB129AD0C7A}"/>
              </a:ext>
            </a:extLst>
          </p:cNvPr>
          <p:cNvSpPr>
            <a:spLocks noGrp="1"/>
          </p:cNvSpPr>
          <p:nvPr/>
        </p:nvSpPr>
        <p:spPr>
          <a:xfrm>
            <a:off x="6810375" y="44577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6667"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Product principle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36BDBB-394A-4A69-8879-3E2EEC270F18}"/>
              </a:ext>
            </a:extLst>
          </p:cNvPr>
          <p:cNvSpPr>
            <a:spLocks noGrp="1"/>
          </p:cNvSpPr>
          <p:nvPr/>
        </p:nvSpPr>
        <p:spPr>
          <a:xfrm>
            <a:off x="6810375" y="4810125"/>
            <a:ext cx="428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632"/>
          </a:bodyPr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Increase customer control without removing corporate policy and financial governance.</a:t>
            </a:r>
          </a:p>
        </p:txBody>
      </p:sp>
    </p:spTree>
    <p:extLst>
      <p:ext uri="{BB962C8B-B14F-4D97-AF65-F5344CB8AC3E}">
        <p14:creationId xmlns:p14="http://schemas.microsoft.com/office/powerpoint/2010/main" val="2062396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title">
            <a:extLst>
              <a:ext uri="{FF2B5EF4-FFF2-40B4-BE49-F238E27FC236}">
                <a16:creationId xmlns:a16="http://schemas.microsoft.com/office/drawing/2014/main" id="{A7E184B1-FC00-44DF-8CB4-88E550B494BF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7891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Discovery tested the problem before the team committed to an MVP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F1CE6D-939F-4C9F-B444-657ECCE7D8DA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8015F0-2CC7-44C0-96BA-B777E43A81F5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6D2FC4-395D-443E-9904-3FFD96A746E8}"/>
              </a:ext>
            </a:extLst>
          </p:cNvPr>
          <p:cNvSpPr>
            <a:spLocks noGrp="1"/>
          </p:cNvSpPr>
          <p:nvPr/>
        </p:nvSpPr>
        <p:spPr>
          <a:xfrm>
            <a:off x="400050" y="1762125"/>
            <a:ext cx="3581400" cy="22383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A8D595-C03F-4B7A-8BC7-15F2A334011E}"/>
              </a:ext>
            </a:extLst>
          </p:cNvPr>
          <p:cNvSpPr>
            <a:spLocks noGrp="1"/>
          </p:cNvSpPr>
          <p:nvPr/>
        </p:nvSpPr>
        <p:spPr>
          <a:xfrm>
            <a:off x="647700" y="20002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000"/>
          </a:bodyPr>
          <a:lstStyle/>
          <a:p>
            <a:pPr algn="l">
              <a:defRPr sz="15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USER RESEARCH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BA6E3B-5193-46BA-BDA6-CC9C670A52C5}"/>
              </a:ext>
            </a:extLst>
          </p:cNvPr>
          <p:cNvSpPr>
            <a:spLocks noGrp="1"/>
          </p:cNvSpPr>
          <p:nvPr/>
        </p:nvSpPr>
        <p:spPr>
          <a:xfrm>
            <a:off x="647700" y="2524125"/>
            <a:ext cx="304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Mapped the request-to-ticket workflow, delay points, approval needs, credit questions and user confidence.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93F8FF-1278-438D-86A0-C003D19569EC}"/>
              </a:ext>
            </a:extLst>
          </p:cNvPr>
          <p:cNvSpPr>
            <a:spLocks noGrp="1"/>
          </p:cNvSpPr>
          <p:nvPr/>
        </p:nvSpPr>
        <p:spPr>
          <a:xfrm>
            <a:off x="4305300" y="1762125"/>
            <a:ext cx="3581400" cy="22383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EA43C7-C3D5-4C2A-9897-9C028768FCE8}"/>
              </a:ext>
            </a:extLst>
          </p:cNvPr>
          <p:cNvSpPr>
            <a:spLocks noGrp="1"/>
          </p:cNvSpPr>
          <p:nvPr/>
        </p:nvSpPr>
        <p:spPr>
          <a:xfrm>
            <a:off x="4552950" y="20002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000"/>
          </a:bodyPr>
          <a:lstStyle/>
          <a:p>
            <a:pPr algn="l">
              <a:defRPr sz="15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MARKET RESEARCH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CA947E-9E3A-45C6-9C82-3FB82128680C}"/>
              </a:ext>
            </a:extLst>
          </p:cNvPr>
          <p:cNvSpPr>
            <a:spLocks noGrp="1"/>
          </p:cNvSpPr>
          <p:nvPr/>
        </p:nvSpPr>
        <p:spPr>
          <a:xfrm>
            <a:off x="4552950" y="2524125"/>
            <a:ext cx="304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Compared corporate booking experiences, self-service capabilities, policy controls and reporting gaps.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2A3337-E567-4B26-8783-05899D20CFCE}"/>
              </a:ext>
            </a:extLst>
          </p:cNvPr>
          <p:cNvSpPr>
            <a:spLocks noGrp="1"/>
          </p:cNvSpPr>
          <p:nvPr/>
        </p:nvSpPr>
        <p:spPr>
          <a:xfrm>
            <a:off x="8210550" y="1762125"/>
            <a:ext cx="3581400" cy="2238375"/>
          </a:xfrm>
          <a:prstGeom prst="rect">
            <a:avLst/>
          </a:prstGeom>
          <a:solidFill>
            <a:srgbClr val="E8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EFCD0D-0267-4B52-A330-7E76753B43B2}"/>
              </a:ext>
            </a:extLst>
          </p:cNvPr>
          <p:cNvSpPr>
            <a:spLocks noGrp="1"/>
          </p:cNvSpPr>
          <p:nvPr/>
        </p:nvSpPr>
        <p:spPr>
          <a:xfrm>
            <a:off x="8458200" y="20002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000"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PRODUCT DEFINITION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4292AF-F1F2-4FAE-9A63-D0624FC0CD38}"/>
              </a:ext>
            </a:extLst>
          </p:cNvPr>
          <p:cNvSpPr>
            <a:spLocks noGrp="1"/>
          </p:cNvSpPr>
          <p:nvPr/>
        </p:nvSpPr>
        <p:spPr>
          <a:xfrm>
            <a:off x="8458200" y="2524125"/>
            <a:ext cx="304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Converted evidence into personas, journeys, use cases, requirements, success measures and a prioritized backlog.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62E4D8-9B51-48D6-92B3-3CFFEEB13166}"/>
              </a:ext>
            </a:extLst>
          </p:cNvPr>
          <p:cNvSpPr>
            <a:spLocks noGrp="1"/>
          </p:cNvSpPr>
          <p:nvPr/>
        </p:nvSpPr>
        <p:spPr>
          <a:xfrm>
            <a:off x="400050" y="45243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833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Primary personas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7D5C08-F51F-44DC-9078-D8A315D30D36}"/>
              </a:ext>
            </a:extLst>
          </p:cNvPr>
          <p:cNvSpPr>
            <a:spLocks noGrp="1"/>
          </p:cNvSpPr>
          <p:nvPr/>
        </p:nvSpPr>
        <p:spPr>
          <a:xfrm>
            <a:off x="400050" y="50006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6667"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Corporate traveler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E651B3-CC65-4CD1-A67D-9A3B77036915}"/>
              </a:ext>
            </a:extLst>
          </p:cNvPr>
          <p:cNvSpPr>
            <a:spLocks noGrp="1"/>
          </p:cNvSpPr>
          <p:nvPr/>
        </p:nvSpPr>
        <p:spPr>
          <a:xfrm>
            <a:off x="400050" y="53340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Fast, accurate itinerary booking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CE7317-D521-49B9-8A12-EEC5BFEB010A}"/>
              </a:ext>
            </a:extLst>
          </p:cNvPr>
          <p:cNvSpPr>
            <a:spLocks noGrp="1"/>
          </p:cNvSpPr>
          <p:nvPr/>
        </p:nvSpPr>
        <p:spPr>
          <a:xfrm>
            <a:off x="4210050" y="50006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6667"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Travel approver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D09395-4435-48CA-A020-56B6EF146C06}"/>
              </a:ext>
            </a:extLst>
          </p:cNvPr>
          <p:cNvSpPr>
            <a:spLocks noGrp="1"/>
          </p:cNvSpPr>
          <p:nvPr/>
        </p:nvSpPr>
        <p:spPr>
          <a:xfrm>
            <a:off x="4210050" y="53340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0792"/>
          </a:bodyPr>
          <a:lstStyle/>
          <a:p>
            <a:pPr algn="l">
              <a:defRPr sz="142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Policy-compliant decisions and audit trail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39DECB-5830-40B1-8CE1-A2B85B763FA9}"/>
              </a:ext>
            </a:extLst>
          </p:cNvPr>
          <p:cNvSpPr>
            <a:spLocks noGrp="1"/>
          </p:cNvSpPr>
          <p:nvPr/>
        </p:nvSpPr>
        <p:spPr>
          <a:xfrm>
            <a:off x="8020050" y="50006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6667"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Company administrator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62162-CD25-4C66-B040-3899434F6C59}"/>
              </a:ext>
            </a:extLst>
          </p:cNvPr>
          <p:cNvSpPr>
            <a:spLocks noGrp="1"/>
          </p:cNvSpPr>
          <p:nvPr/>
        </p:nvSpPr>
        <p:spPr>
          <a:xfrm>
            <a:off x="8020050" y="53340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Credit, spend and traveler visibility</a:t>
            </a:r>
          </a:p>
        </p:txBody>
      </p:sp>
    </p:spTree>
    <p:extLst>
      <p:ext uri="{BB962C8B-B14F-4D97-AF65-F5344CB8AC3E}">
        <p14:creationId xmlns:p14="http://schemas.microsoft.com/office/powerpoint/2010/main" val="1463408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43DBF511-5475-466F-B36E-F21BE8695C35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821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MVP balanced customer autonomy with corporate control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8837FD-D8A1-4254-8915-B202D587A0F1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6FBF22-1DFA-4CF5-B43E-D74A9C6C1D9C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F9F025-4F52-4217-9111-74073FA92E8D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3581400" cy="4095750"/>
          </a:xfrm>
          <a:prstGeom prst="rect">
            <a:avLst/>
          </a:prstGeom>
          <a:solidFill>
            <a:srgbClr val="E8F5FC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3F6C3C-B781-4A3A-91B9-EDD0BA3B5E1B}"/>
              </a:ext>
            </a:extLst>
          </p:cNvPr>
          <p:cNvSpPr>
            <a:spLocks noGrp="1"/>
          </p:cNvSpPr>
          <p:nvPr/>
        </p:nvSpPr>
        <p:spPr>
          <a:xfrm>
            <a:off x="647700" y="185737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424"/>
          </a:bodyPr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MUST HAVE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AC8111-736A-41A7-A2A0-12F4A73F6839}"/>
              </a:ext>
            </a:extLst>
          </p:cNvPr>
          <p:cNvSpPr>
            <a:spLocks noGrp="1"/>
          </p:cNvSpPr>
          <p:nvPr/>
        </p:nvSpPr>
        <p:spPr>
          <a:xfrm>
            <a:off x="647700" y="2428875"/>
            <a:ext cx="30480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Secure login</a:t>
            </a:r>
          </a:p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Live flight search</a:t>
            </a:r>
          </a:p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Self-service booking</a:t>
            </a:r>
          </a:p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Approval workflow</a:t>
            </a:r>
          </a:p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Credit-limit visibility</a:t>
            </a:r>
          </a:p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Itinerary status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ADA22E-EFF5-43EA-9782-69734B6B2C17}"/>
              </a:ext>
            </a:extLst>
          </p:cNvPr>
          <p:cNvSpPr>
            <a:spLocks noGrp="1"/>
          </p:cNvSpPr>
          <p:nvPr/>
        </p:nvSpPr>
        <p:spPr>
          <a:xfrm>
            <a:off x="4305300" y="1619250"/>
            <a:ext cx="3581400" cy="40957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85335E-A1DF-4D4E-9D22-5928058F5008}"/>
              </a:ext>
            </a:extLst>
          </p:cNvPr>
          <p:cNvSpPr>
            <a:spLocks noGrp="1"/>
          </p:cNvSpPr>
          <p:nvPr/>
        </p:nvSpPr>
        <p:spPr>
          <a:xfrm>
            <a:off x="4552950" y="185737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424"/>
          </a:bodyPr>
          <a:lstStyle/>
          <a:p>
            <a:pPr algn="l">
              <a:defRPr sz="16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SHOULD HAVE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67C494-AC5C-455D-B408-56A956E9243D}"/>
              </a:ext>
            </a:extLst>
          </p:cNvPr>
          <p:cNvSpPr>
            <a:spLocks noGrp="1"/>
          </p:cNvSpPr>
          <p:nvPr/>
        </p:nvSpPr>
        <p:spPr>
          <a:xfrm>
            <a:off x="4552950" y="2428875"/>
            <a:ext cx="30480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Spend dashboard</a:t>
            </a:r>
          </a:p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Booking notifications</a:t>
            </a:r>
          </a:p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Basic company administration</a:t>
            </a:r>
          </a:p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Operational audit trail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729E05-3B8B-43DC-8816-BD0632085F1C}"/>
              </a:ext>
            </a:extLst>
          </p:cNvPr>
          <p:cNvSpPr>
            <a:spLocks noGrp="1"/>
          </p:cNvSpPr>
          <p:nvPr/>
        </p:nvSpPr>
        <p:spPr>
          <a:xfrm>
            <a:off x="8210550" y="1619250"/>
            <a:ext cx="3581400" cy="4095750"/>
          </a:xfrm>
          <a:prstGeom prst="rect">
            <a:avLst/>
          </a:prstGeom>
          <a:solidFill>
            <a:srgbClr val="F7F8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2941C2-0A12-4592-81CF-3AE5D7543F81}"/>
              </a:ext>
            </a:extLst>
          </p:cNvPr>
          <p:cNvSpPr>
            <a:spLocks noGrp="1"/>
          </p:cNvSpPr>
          <p:nvPr/>
        </p:nvSpPr>
        <p:spPr>
          <a:xfrm>
            <a:off x="8458200" y="185737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424"/>
          </a:bodyPr>
          <a:lstStyle/>
          <a:p>
            <a:pPr algn="l">
              <a:defRPr sz="16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5C993D-B16A-4817-B2B7-A5AA2DEE67C7}"/>
              </a:ext>
            </a:extLst>
          </p:cNvPr>
          <p:cNvSpPr>
            <a:spLocks noGrp="1"/>
          </p:cNvSpPr>
          <p:nvPr/>
        </p:nvSpPr>
        <p:spPr>
          <a:xfrm>
            <a:off x="8458200" y="2428875"/>
            <a:ext cx="30480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Policy-rule configuration</a:t>
            </a:r>
          </a:p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Online changes/cancellations</a:t>
            </a:r>
          </a:p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Advanced reporting</a:t>
            </a:r>
          </a:p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Mobile optimization</a:t>
            </a:r>
          </a:p>
          <a:p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Expanded integrations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3F3697-94BC-4173-9766-1A0C55958A6C}"/>
              </a:ext>
            </a:extLst>
          </p:cNvPr>
          <p:cNvSpPr>
            <a:spLocks noGrp="1"/>
          </p:cNvSpPr>
          <p:nvPr/>
        </p:nvSpPr>
        <p:spPr>
          <a:xfrm>
            <a:off x="400050" y="5953125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Scope rule: any new request had to protect launch value, fit the May 2023 window, or move to the Phase 2 backlog.</a:t>
            </a:r>
          </a:p>
        </p:txBody>
      </p:sp>
    </p:spTree>
    <p:extLst>
      <p:ext uri="{BB962C8B-B14F-4D97-AF65-F5344CB8AC3E}">
        <p14:creationId xmlns:p14="http://schemas.microsoft.com/office/powerpoint/2010/main" val="2086335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041E54C2-AF85-4564-90DD-C10EC921EFF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014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redesigned journey removed handoffs from routine bookings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781B21-571F-479C-99F0-8F0A2A15420E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A252FA-18AE-4744-85AA-24AD28FDCF0B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C1801A-8148-4A61-A1A0-5AF053DC7688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l"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MANUAL JOURNEY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7DB27A-04A1-4CCE-ADF3-1A5D813758AF}"/>
              </a:ext>
            </a:extLst>
          </p:cNvPr>
          <p:cNvSpPr>
            <a:spLocks noGrp="1"/>
          </p:cNvSpPr>
          <p:nvPr/>
        </p:nvSpPr>
        <p:spPr>
          <a:xfrm>
            <a:off x="400050" y="3857625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SELF-SERVICE MVP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75B182-789C-4CD9-B3B2-56AA007549B8}"/>
              </a:ext>
            </a:extLst>
          </p:cNvPr>
          <p:cNvSpPr>
            <a:spLocks noGrp="1"/>
          </p:cNvSpPr>
          <p:nvPr/>
        </p:nvSpPr>
        <p:spPr>
          <a:xfrm>
            <a:off x="2381250" y="2409825"/>
            <a:ext cx="1047750" cy="2857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14897F-D5AD-4D34-9FCF-71F6C16F71D0}"/>
              </a:ext>
            </a:extLst>
          </p:cNvPr>
          <p:cNvSpPr>
            <a:spLocks noGrp="1"/>
          </p:cNvSpPr>
          <p:nvPr/>
        </p:nvSpPr>
        <p:spPr>
          <a:xfrm>
            <a:off x="2381250" y="4886325"/>
            <a:ext cx="1047750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67269B-4173-469C-9B68-A37D327580F4}"/>
              </a:ext>
            </a:extLst>
          </p:cNvPr>
          <p:cNvSpPr>
            <a:spLocks noGrp="1"/>
          </p:cNvSpPr>
          <p:nvPr/>
        </p:nvSpPr>
        <p:spPr>
          <a:xfrm>
            <a:off x="4953000" y="2409825"/>
            <a:ext cx="1047750" cy="2857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91F5F7-F2F1-4E13-8D40-6DB00FC50BDE}"/>
              </a:ext>
            </a:extLst>
          </p:cNvPr>
          <p:cNvSpPr>
            <a:spLocks noGrp="1"/>
          </p:cNvSpPr>
          <p:nvPr/>
        </p:nvSpPr>
        <p:spPr>
          <a:xfrm>
            <a:off x="4953000" y="4886325"/>
            <a:ext cx="1047750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6F6DF9-0E10-48DD-8CAC-36787B2F1239}"/>
              </a:ext>
            </a:extLst>
          </p:cNvPr>
          <p:cNvSpPr>
            <a:spLocks noGrp="1"/>
          </p:cNvSpPr>
          <p:nvPr/>
        </p:nvSpPr>
        <p:spPr>
          <a:xfrm>
            <a:off x="7524750" y="2409825"/>
            <a:ext cx="1047750" cy="2857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9292B6-9BB8-4C26-9633-E8077AA8C2A4}"/>
              </a:ext>
            </a:extLst>
          </p:cNvPr>
          <p:cNvSpPr>
            <a:spLocks noGrp="1"/>
          </p:cNvSpPr>
          <p:nvPr/>
        </p:nvSpPr>
        <p:spPr>
          <a:xfrm>
            <a:off x="7524750" y="4886325"/>
            <a:ext cx="1047750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67A58-FE43-4930-9C09-6B9C732257CD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1524000" cy="952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99DAC-FDFF-4D59-8361-122B6E81C362}"/>
              </a:ext>
            </a:extLst>
          </p:cNvPr>
          <p:cNvSpPr>
            <a:spLocks noGrp="1"/>
          </p:cNvSpPr>
          <p:nvPr/>
        </p:nvSpPr>
        <p:spPr>
          <a:xfrm>
            <a:off x="1000125" y="2143125"/>
            <a:ext cx="123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Send request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19A2C3-2D38-4405-9854-463148A2B74D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1524000" cy="952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4BA7E5-B632-4FC4-A7A5-1B8CD2923974}"/>
              </a:ext>
            </a:extLst>
          </p:cNvPr>
          <p:cNvSpPr>
            <a:spLocks noGrp="1"/>
          </p:cNvSpPr>
          <p:nvPr/>
        </p:nvSpPr>
        <p:spPr>
          <a:xfrm>
            <a:off x="1000125" y="4619625"/>
            <a:ext cx="123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4B8552-EF42-4667-A0FA-6D338A0D02F0}"/>
              </a:ext>
            </a:extLst>
          </p:cNvPr>
          <p:cNvSpPr>
            <a:spLocks noGrp="1"/>
          </p:cNvSpPr>
          <p:nvPr/>
        </p:nvSpPr>
        <p:spPr>
          <a:xfrm>
            <a:off x="3429000" y="1952625"/>
            <a:ext cx="1524000" cy="952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1001B7-48B0-4213-8BB1-49EC3E6C4C92}"/>
              </a:ext>
            </a:extLst>
          </p:cNvPr>
          <p:cNvSpPr>
            <a:spLocks noGrp="1"/>
          </p:cNvSpPr>
          <p:nvPr/>
        </p:nvSpPr>
        <p:spPr>
          <a:xfrm>
            <a:off x="3571875" y="2143125"/>
            <a:ext cx="123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 searches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6B6852-7F0F-4AAB-AFF0-F3306C729D09}"/>
              </a:ext>
            </a:extLst>
          </p:cNvPr>
          <p:cNvSpPr>
            <a:spLocks noGrp="1"/>
          </p:cNvSpPr>
          <p:nvPr/>
        </p:nvSpPr>
        <p:spPr>
          <a:xfrm>
            <a:off x="3429000" y="4429125"/>
            <a:ext cx="1524000" cy="952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D58442-CFC5-4F92-9596-E2DDCFE07774}"/>
              </a:ext>
            </a:extLst>
          </p:cNvPr>
          <p:cNvSpPr>
            <a:spLocks noGrp="1"/>
          </p:cNvSpPr>
          <p:nvPr/>
        </p:nvSpPr>
        <p:spPr>
          <a:xfrm>
            <a:off x="3571875" y="4619625"/>
            <a:ext cx="123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Search live fares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878E7E-6A68-426E-BE7F-BF6880A41B95}"/>
              </a:ext>
            </a:extLst>
          </p:cNvPr>
          <p:cNvSpPr>
            <a:spLocks noGrp="1"/>
          </p:cNvSpPr>
          <p:nvPr/>
        </p:nvSpPr>
        <p:spPr>
          <a:xfrm>
            <a:off x="6000750" y="1952625"/>
            <a:ext cx="1524000" cy="952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96487E-8A5D-4CDD-AC50-4C8F3FDDCE8A}"/>
              </a:ext>
            </a:extLst>
          </p:cNvPr>
          <p:cNvSpPr>
            <a:spLocks noGrp="1"/>
          </p:cNvSpPr>
          <p:nvPr/>
        </p:nvSpPr>
        <p:spPr>
          <a:xfrm>
            <a:off x="6143625" y="2143125"/>
            <a:ext cx="123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Review options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0AF658-2FE3-44C0-8340-F71952B94836}"/>
              </a:ext>
            </a:extLst>
          </p:cNvPr>
          <p:cNvSpPr>
            <a:spLocks noGrp="1"/>
          </p:cNvSpPr>
          <p:nvPr/>
        </p:nvSpPr>
        <p:spPr>
          <a:xfrm>
            <a:off x="6000750" y="4429125"/>
            <a:ext cx="1524000" cy="952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52D130-58AF-45DD-AEFD-DDDD191B5B53}"/>
              </a:ext>
            </a:extLst>
          </p:cNvPr>
          <p:cNvSpPr>
            <a:spLocks noGrp="1"/>
          </p:cNvSpPr>
          <p:nvPr/>
        </p:nvSpPr>
        <p:spPr>
          <a:xfrm>
            <a:off x="6143625" y="4619625"/>
            <a:ext cx="123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Approve if needed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8E5A5A-5D3E-4CEF-9A28-DA3C44F6C6A1}"/>
              </a:ext>
            </a:extLst>
          </p:cNvPr>
          <p:cNvSpPr>
            <a:spLocks noGrp="1"/>
          </p:cNvSpPr>
          <p:nvPr/>
        </p:nvSpPr>
        <p:spPr>
          <a:xfrm>
            <a:off x="8572500" y="1952625"/>
            <a:ext cx="1524000" cy="952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52F512-C197-454E-9A04-699FF5CCAD4A}"/>
              </a:ext>
            </a:extLst>
          </p:cNvPr>
          <p:cNvSpPr>
            <a:spLocks noGrp="1"/>
          </p:cNvSpPr>
          <p:nvPr/>
        </p:nvSpPr>
        <p:spPr>
          <a:xfrm>
            <a:off x="8715375" y="2143125"/>
            <a:ext cx="123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Recheck + confirm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DADC9B-B213-4D7E-A8EC-2A0A16BB281F}"/>
              </a:ext>
            </a:extLst>
          </p:cNvPr>
          <p:cNvSpPr>
            <a:spLocks noGrp="1"/>
          </p:cNvSpPr>
          <p:nvPr/>
        </p:nvSpPr>
        <p:spPr>
          <a:xfrm>
            <a:off x="8572500" y="4429125"/>
            <a:ext cx="1524000" cy="952500"/>
          </a:xfrm>
          <a:prstGeom prst="rect">
            <a:avLst/>
          </a:prstGeom>
          <a:solidFill>
            <a:srgbClr val="E8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80EAF5-4FDB-4183-A503-F82BD33F1CDC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123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Book + track spend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3A112B-8257-4D55-92C1-63B40107F59F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9239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212"/>
          </a:bodyPr>
          <a:lstStyle/>
          <a:p>
            <a:pPr algn="ctr">
              <a:defRPr sz="16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Multiple response delays and fare revalidation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C44861-8412-40BC-813C-1BEC0EF8742C}"/>
              </a:ext>
            </a:extLst>
          </p:cNvPr>
          <p:cNvSpPr>
            <a:spLocks noGrp="1"/>
          </p:cNvSpPr>
          <p:nvPr/>
        </p:nvSpPr>
        <p:spPr>
          <a:xfrm>
            <a:off x="857250" y="5619750"/>
            <a:ext cx="9239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212"/>
          </a:bodyPr>
          <a:lstStyle/>
          <a:p>
            <a:pPr algn="ctr">
              <a:defRPr sz="16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Live information, policy control and immediate confirmation</a:t>
            </a:r>
          </a:p>
        </p:txBody>
      </p:sp>
    </p:spTree>
    <p:extLst>
      <p:ext uri="{BB962C8B-B14F-4D97-AF65-F5344CB8AC3E}">
        <p14:creationId xmlns:p14="http://schemas.microsoft.com/office/powerpoint/2010/main" val="120428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-title">
            <a:extLst>
              <a:ext uri="{FF2B5EF4-FFF2-40B4-BE49-F238E27FC236}">
                <a16:creationId xmlns:a16="http://schemas.microsoft.com/office/drawing/2014/main" id="{073D4774-4FFA-48BE-8B90-47594D50DC52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859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ten-month roadmap moved from evidence to phased launch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A00462-9D1F-43DC-B9AC-66B86600A337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CF5536-CA73-4B09-9A8C-67ACE6458AB1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CD25B1-9E0E-4090-B8BD-D107AAB7C6CB}"/>
              </a:ext>
            </a:extLst>
          </p:cNvPr>
          <p:cNvSpPr>
            <a:spLocks noGrp="1"/>
          </p:cNvSpPr>
          <p:nvPr/>
        </p:nvSpPr>
        <p:spPr>
          <a:xfrm>
            <a:off x="2476500" y="1333500"/>
            <a:ext cx="76200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99E6-5E26-4DBC-9ED7-1BF0133968CC}"/>
              </a:ext>
            </a:extLst>
          </p:cNvPr>
          <p:cNvSpPr>
            <a:spLocks noGrp="1"/>
          </p:cNvSpPr>
          <p:nvPr/>
        </p:nvSpPr>
        <p:spPr>
          <a:xfrm>
            <a:off x="2476500" y="13525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ctr"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AUG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7BB026-AD81-4D1E-A605-72D3FE562A4D}"/>
              </a:ext>
            </a:extLst>
          </p:cNvPr>
          <p:cNvSpPr>
            <a:spLocks noGrp="1"/>
          </p:cNvSpPr>
          <p:nvPr/>
        </p:nvSpPr>
        <p:spPr>
          <a:xfrm>
            <a:off x="3352800" y="1333500"/>
            <a:ext cx="76200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C8F478-5587-4638-8DEF-DB0A80AC91DA}"/>
              </a:ext>
            </a:extLst>
          </p:cNvPr>
          <p:cNvSpPr>
            <a:spLocks noGrp="1"/>
          </p:cNvSpPr>
          <p:nvPr/>
        </p:nvSpPr>
        <p:spPr>
          <a:xfrm>
            <a:off x="3352800" y="13525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ctr"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SEP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366FBD-264B-4840-8992-E2CD62B48D6C}"/>
              </a:ext>
            </a:extLst>
          </p:cNvPr>
          <p:cNvSpPr>
            <a:spLocks noGrp="1"/>
          </p:cNvSpPr>
          <p:nvPr/>
        </p:nvSpPr>
        <p:spPr>
          <a:xfrm>
            <a:off x="4229100" y="1333500"/>
            <a:ext cx="76200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BA546A-49CE-4C2D-BC78-E8718EDEAB1F}"/>
              </a:ext>
            </a:extLst>
          </p:cNvPr>
          <p:cNvSpPr>
            <a:spLocks noGrp="1"/>
          </p:cNvSpPr>
          <p:nvPr/>
        </p:nvSpPr>
        <p:spPr>
          <a:xfrm>
            <a:off x="4229100" y="13525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ctr"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OCT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8A4760-0056-4DAA-A133-6ADB66515DC4}"/>
              </a:ext>
            </a:extLst>
          </p:cNvPr>
          <p:cNvSpPr>
            <a:spLocks noGrp="1"/>
          </p:cNvSpPr>
          <p:nvPr/>
        </p:nvSpPr>
        <p:spPr>
          <a:xfrm>
            <a:off x="5105400" y="1333500"/>
            <a:ext cx="76200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09CAD9-27FD-4C2E-8C53-8586247DAEFD}"/>
              </a:ext>
            </a:extLst>
          </p:cNvPr>
          <p:cNvSpPr>
            <a:spLocks noGrp="1"/>
          </p:cNvSpPr>
          <p:nvPr/>
        </p:nvSpPr>
        <p:spPr>
          <a:xfrm>
            <a:off x="5105400" y="13525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ctr"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NOV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A85A92-D7FD-4D94-AA8F-978294307950}"/>
              </a:ext>
            </a:extLst>
          </p:cNvPr>
          <p:cNvSpPr>
            <a:spLocks noGrp="1"/>
          </p:cNvSpPr>
          <p:nvPr/>
        </p:nvSpPr>
        <p:spPr>
          <a:xfrm>
            <a:off x="5981700" y="1333500"/>
            <a:ext cx="76200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77E3F2-BBAE-4608-96CC-87A7C20264B3}"/>
              </a:ext>
            </a:extLst>
          </p:cNvPr>
          <p:cNvSpPr>
            <a:spLocks noGrp="1"/>
          </p:cNvSpPr>
          <p:nvPr/>
        </p:nvSpPr>
        <p:spPr>
          <a:xfrm>
            <a:off x="5981700" y="13525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ctr"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DEC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2AE5F1-B101-4E40-9AFB-AD8FCE8F3DEF}"/>
              </a:ext>
            </a:extLst>
          </p:cNvPr>
          <p:cNvSpPr>
            <a:spLocks noGrp="1"/>
          </p:cNvSpPr>
          <p:nvPr/>
        </p:nvSpPr>
        <p:spPr>
          <a:xfrm>
            <a:off x="6858000" y="1333500"/>
            <a:ext cx="76200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B71681-6D7A-422E-938D-6104A01D4E00}"/>
              </a:ext>
            </a:extLst>
          </p:cNvPr>
          <p:cNvSpPr>
            <a:spLocks noGrp="1"/>
          </p:cNvSpPr>
          <p:nvPr/>
        </p:nvSpPr>
        <p:spPr>
          <a:xfrm>
            <a:off x="6858000" y="13525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ctr"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JAN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3C7D2E-E31A-4299-96DF-954696F237B8}"/>
              </a:ext>
            </a:extLst>
          </p:cNvPr>
          <p:cNvSpPr>
            <a:spLocks noGrp="1"/>
          </p:cNvSpPr>
          <p:nvPr/>
        </p:nvSpPr>
        <p:spPr>
          <a:xfrm>
            <a:off x="7734300" y="1333500"/>
            <a:ext cx="76200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DE8EDA-AA4E-4879-B5A7-1AE5AFEAF994}"/>
              </a:ext>
            </a:extLst>
          </p:cNvPr>
          <p:cNvSpPr>
            <a:spLocks noGrp="1"/>
          </p:cNvSpPr>
          <p:nvPr/>
        </p:nvSpPr>
        <p:spPr>
          <a:xfrm>
            <a:off x="7734300" y="13525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ctr"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FEB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DF6695-BACD-4D66-9FA0-AF2295BB11DB}"/>
              </a:ext>
            </a:extLst>
          </p:cNvPr>
          <p:cNvSpPr>
            <a:spLocks noGrp="1"/>
          </p:cNvSpPr>
          <p:nvPr/>
        </p:nvSpPr>
        <p:spPr>
          <a:xfrm>
            <a:off x="8610600" y="1333500"/>
            <a:ext cx="76200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49252F-B4EC-4ECF-8915-BFA51586AC34}"/>
              </a:ext>
            </a:extLst>
          </p:cNvPr>
          <p:cNvSpPr>
            <a:spLocks noGrp="1"/>
          </p:cNvSpPr>
          <p:nvPr/>
        </p:nvSpPr>
        <p:spPr>
          <a:xfrm>
            <a:off x="8610600" y="13525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ctr"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MAR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27E78B-D529-43CE-B994-8C5C89B51799}"/>
              </a:ext>
            </a:extLst>
          </p:cNvPr>
          <p:cNvSpPr>
            <a:spLocks noGrp="1"/>
          </p:cNvSpPr>
          <p:nvPr/>
        </p:nvSpPr>
        <p:spPr>
          <a:xfrm>
            <a:off x="9486900" y="1333500"/>
            <a:ext cx="76200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A77F4D-5C19-418A-B53F-A60373C11B98}"/>
              </a:ext>
            </a:extLst>
          </p:cNvPr>
          <p:cNvSpPr>
            <a:spLocks noGrp="1"/>
          </p:cNvSpPr>
          <p:nvPr/>
        </p:nvSpPr>
        <p:spPr>
          <a:xfrm>
            <a:off x="9486900" y="13525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ctr"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APR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BAA95E-FE96-420C-9C18-27FFB0E30B8E}"/>
              </a:ext>
            </a:extLst>
          </p:cNvPr>
          <p:cNvSpPr>
            <a:spLocks noGrp="1"/>
          </p:cNvSpPr>
          <p:nvPr/>
        </p:nvSpPr>
        <p:spPr>
          <a:xfrm>
            <a:off x="10363200" y="1333500"/>
            <a:ext cx="762000" cy="266700"/>
          </a:xfrm>
          <a:prstGeom prst="rect">
            <a:avLst/>
          </a:prstGeom>
          <a:solidFill>
            <a:srgbClr val="E8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32098B-96EB-4CB1-A260-9CB284F1D138}"/>
              </a:ext>
            </a:extLst>
          </p:cNvPr>
          <p:cNvSpPr>
            <a:spLocks noGrp="1"/>
          </p:cNvSpPr>
          <p:nvPr/>
        </p:nvSpPr>
        <p:spPr>
          <a:xfrm>
            <a:off x="10363200" y="13525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ctr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E9E13-7D63-4E84-8860-D5A1DCFD73D3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Initiate + discover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D6109D-822D-4127-B0B9-E604C2D7D062}"/>
              </a:ext>
            </a:extLst>
          </p:cNvPr>
          <p:cNvSpPr>
            <a:spLocks noGrp="1"/>
          </p:cNvSpPr>
          <p:nvPr/>
        </p:nvSpPr>
        <p:spPr>
          <a:xfrm>
            <a:off x="2476500" y="1952625"/>
            <a:ext cx="1657350" cy="3429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F30158-6527-40BE-9F65-C8FDB3F50571}"/>
              </a:ext>
            </a:extLst>
          </p:cNvPr>
          <p:cNvSpPr>
            <a:spLocks noGrp="1"/>
          </p:cNvSpPr>
          <p:nvPr/>
        </p:nvSpPr>
        <p:spPr>
          <a:xfrm>
            <a:off x="400050" y="261937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Define MVP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E999A2-A776-462C-A151-E913ABA919DB}"/>
              </a:ext>
            </a:extLst>
          </p:cNvPr>
          <p:cNvSpPr>
            <a:spLocks noGrp="1"/>
          </p:cNvSpPr>
          <p:nvPr/>
        </p:nvSpPr>
        <p:spPr>
          <a:xfrm>
            <a:off x="3352800" y="2619375"/>
            <a:ext cx="1657350" cy="3429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28032C-7CE1-4F24-85E5-43447DF05134}"/>
              </a:ext>
            </a:extLst>
          </p:cNvPr>
          <p:cNvSpPr>
            <a:spLocks noGrp="1"/>
          </p:cNvSpPr>
          <p:nvPr/>
        </p:nvSpPr>
        <p:spPr>
          <a:xfrm>
            <a:off x="400050" y="328612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 + validate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D0B368-436B-44B6-BD00-E5DFE3D64136}"/>
              </a:ext>
            </a:extLst>
          </p:cNvPr>
          <p:cNvSpPr>
            <a:spLocks noGrp="1"/>
          </p:cNvSpPr>
          <p:nvPr/>
        </p:nvSpPr>
        <p:spPr>
          <a:xfrm>
            <a:off x="4229100" y="3286125"/>
            <a:ext cx="2533650" cy="3429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9B7E8E-224D-43E4-8EF8-56ADAC2D8F35}"/>
              </a:ext>
            </a:extLst>
          </p:cNvPr>
          <p:cNvSpPr>
            <a:spLocks noGrp="1"/>
          </p:cNvSpPr>
          <p:nvPr/>
        </p:nvSpPr>
        <p:spPr>
          <a:xfrm>
            <a:off x="400050" y="395287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 sprints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EB77C-9811-4D25-AC68-72D2B749062A}"/>
              </a:ext>
            </a:extLst>
          </p:cNvPr>
          <p:cNvSpPr>
            <a:spLocks noGrp="1"/>
          </p:cNvSpPr>
          <p:nvPr/>
        </p:nvSpPr>
        <p:spPr>
          <a:xfrm>
            <a:off x="6858000" y="3952875"/>
            <a:ext cx="2533650" cy="3429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1D4EB06-F5A4-4E29-9430-FEFDB4108997}"/>
              </a:ext>
            </a:extLst>
          </p:cNvPr>
          <p:cNvSpPr>
            <a:spLocks noGrp="1"/>
          </p:cNvSpPr>
          <p:nvPr/>
        </p:nvSpPr>
        <p:spPr>
          <a:xfrm>
            <a:off x="400050" y="461962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 + UAT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7E7DA3-58A6-4247-85E1-ED280AFFE469}"/>
              </a:ext>
            </a:extLst>
          </p:cNvPr>
          <p:cNvSpPr>
            <a:spLocks noGrp="1"/>
          </p:cNvSpPr>
          <p:nvPr/>
        </p:nvSpPr>
        <p:spPr>
          <a:xfrm>
            <a:off x="8610600" y="4619625"/>
            <a:ext cx="1657350" cy="3429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C1E7DF-21FF-454D-A411-02B0C3EB3B52}"/>
              </a:ext>
            </a:extLst>
          </p:cNvPr>
          <p:cNvSpPr>
            <a:spLocks noGrp="1"/>
          </p:cNvSpPr>
          <p:nvPr/>
        </p:nvSpPr>
        <p:spPr>
          <a:xfrm>
            <a:off x="400050" y="528637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Pilot + launch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C9AA37-E458-465A-895F-BF01541FBC18}"/>
              </a:ext>
            </a:extLst>
          </p:cNvPr>
          <p:cNvSpPr>
            <a:spLocks noGrp="1"/>
          </p:cNvSpPr>
          <p:nvPr/>
        </p:nvSpPr>
        <p:spPr>
          <a:xfrm>
            <a:off x="9486900" y="5286375"/>
            <a:ext cx="1657350" cy="3429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C4018FB-DE82-48D7-998E-8053F3842B5C}"/>
              </a:ext>
            </a:extLst>
          </p:cNvPr>
          <p:cNvSpPr>
            <a:spLocks noGrp="1"/>
          </p:cNvSpPr>
          <p:nvPr/>
        </p:nvSpPr>
        <p:spPr>
          <a:xfrm>
            <a:off x="2476500" y="5857875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6667"/>
          </a:bodyPr>
          <a:lstStyle/>
          <a:p>
            <a:pPr algn="ctr">
              <a:defRPr sz="13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2022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4164C40-6E93-4A46-B592-FDD1C7E58515}"/>
              </a:ext>
            </a:extLst>
          </p:cNvPr>
          <p:cNvSpPr>
            <a:spLocks noGrp="1"/>
          </p:cNvSpPr>
          <p:nvPr/>
        </p:nvSpPr>
        <p:spPr>
          <a:xfrm>
            <a:off x="6858000" y="5857875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6667"/>
          </a:bodyPr>
          <a:lstStyle/>
          <a:p>
            <a:pPr algn="ctr">
              <a:defRPr sz="13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2023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9865312-F4E6-43FA-B101-AAEB17AC0603}"/>
              </a:ext>
            </a:extLst>
          </p:cNvPr>
          <p:cNvSpPr>
            <a:spLocks noGrp="1"/>
          </p:cNvSpPr>
          <p:nvPr/>
        </p:nvSpPr>
        <p:spPr>
          <a:xfrm>
            <a:off x="6762750" y="1285875"/>
            <a:ext cx="19050" cy="4762500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64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BF5C808C-003F-4F07-BAAE-ED5CCE3E7E9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2031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Hybrid governance kept discovery, delivery and launch decisions visible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2B6F85-4A89-47DF-8610-12CCDD1FA4D6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5FDCD6-903E-4FBA-A87D-056FE5BFEF4F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8"/>
          <p:cNvGraphicFramePr/>
          <p:nvPr/>
        </p:nvGraphicFramePr>
        <p:xfrm>
          <a:off x="400050" y="1571625"/>
          <a:ext cx="11391900" cy="3714753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067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activity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PM + Product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Sponsor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Engineering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UX / Research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Finance / Ops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 Success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Business case and charter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R/A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User research and personas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MVP backlog and scope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R/A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Architecture and integrations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UAT and launch readiness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R/A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Onboarding and adoption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C6F071D-8162-49EE-AB60-A7BA78C0C912}"/>
              </a:ext>
            </a:extLst>
          </p:cNvPr>
          <p:cNvSpPr>
            <a:spLocks noGrp="1"/>
          </p:cNvSpPr>
          <p:nvPr/>
        </p:nvSpPr>
        <p:spPr>
          <a:xfrm>
            <a:off x="400050" y="5667375"/>
            <a:ext cx="1095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Operating rhythm: two-week sprints • weekly risk review • backlog refinement • stage-gate UAT and launch approval</a:t>
            </a:r>
          </a:p>
        </p:txBody>
      </p:sp>
    </p:spTree>
    <p:extLst>
      <p:ext uri="{BB962C8B-B14F-4D97-AF65-F5344CB8AC3E}">
        <p14:creationId xmlns:p14="http://schemas.microsoft.com/office/powerpoint/2010/main" val="365775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0A8AF87C-1065-4F40-A290-941FE96D4352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8984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Launch risks were managed through product and delivery controls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4D5FA0-0C70-4068-9442-0F484B0ED255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573B46-5F85-4469-AF8C-1265BC63CE60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" name="Table 16"/>
          <p:cNvGraphicFramePr/>
          <p:nvPr/>
        </p:nvGraphicFramePr>
        <p:xfrm>
          <a:off x="400050" y="1571625"/>
          <a:ext cx="7239000" cy="4095749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Rating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response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Flight-content API outage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Cache safe results; monitoring; escalation SLA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Fare changes before confirmation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Revalidate price and availability at confirmation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Credit data mismatch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Single source; daily reconciliation; exception queue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Low customer adoption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Pilot champions, onboarding and adoption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Scope expansion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MoSCoW, change control and Phase 2 backlog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Data/security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Role-based access, encryption, testing and audit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DCAE714-1E1D-4A27-AA00-70F6F88075C0}"/>
              </a:ext>
            </a:extLst>
          </p:cNvPr>
          <p:cNvSpPr>
            <a:spLocks noGrp="1"/>
          </p:cNvSpPr>
          <p:nvPr/>
        </p:nvSpPr>
        <p:spPr>
          <a:xfrm>
            <a:off x="8286750" y="16192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778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Risk response priorities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D5C4B-E9F0-477B-965C-F1478EA47FBD}"/>
              </a:ext>
            </a:extLst>
          </p:cNvPr>
          <p:cNvSpPr>
            <a:spLocks noGrp="1"/>
          </p:cNvSpPr>
          <p:nvPr/>
        </p:nvSpPr>
        <p:spPr>
          <a:xfrm>
            <a:off x="8286750" y="2238375"/>
            <a:ext cx="133350" cy="133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E6685B-9BEE-4722-927B-B995889E82F5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76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Protect live price accuracy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861716-C3B2-4013-A8AB-7A2DA3E420B2}"/>
              </a:ext>
            </a:extLst>
          </p:cNvPr>
          <p:cNvSpPr>
            <a:spLocks noGrp="1"/>
          </p:cNvSpPr>
          <p:nvPr/>
        </p:nvSpPr>
        <p:spPr>
          <a:xfrm>
            <a:off x="8286750" y="2981325"/>
            <a:ext cx="133350" cy="133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591EB5-0EDC-4441-B581-2C88F35143EA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276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122"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Protect corporate financial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DFCCD8-A758-4D30-878B-46A0B4FF669B}"/>
              </a:ext>
            </a:extLst>
          </p:cNvPr>
          <p:cNvSpPr>
            <a:spLocks noGrp="1"/>
          </p:cNvSpPr>
          <p:nvPr/>
        </p:nvSpPr>
        <p:spPr>
          <a:xfrm>
            <a:off x="8286750" y="3724275"/>
            <a:ext cx="133350" cy="1333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ED8A9D-5A68-4592-9DA1-224BDE5F4E29}"/>
              </a:ext>
            </a:extLst>
          </p:cNvPr>
          <p:cNvSpPr>
            <a:spLocks noGrp="1"/>
          </p:cNvSpPr>
          <p:nvPr/>
        </p:nvSpPr>
        <p:spPr>
          <a:xfrm>
            <a:off x="8572500" y="3581400"/>
            <a:ext cx="276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862"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Protect customer trust at launch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64709E-4497-4327-B570-FE8D4A4D645E}"/>
              </a:ext>
            </a:extLst>
          </p:cNvPr>
          <p:cNvSpPr>
            <a:spLocks noGrp="1"/>
          </p:cNvSpPr>
          <p:nvPr/>
        </p:nvSpPr>
        <p:spPr>
          <a:xfrm>
            <a:off x="8286750" y="4467225"/>
            <a:ext cx="133350" cy="1333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B3A2C5-A5A2-49FE-AA20-18511EB075E3}"/>
              </a:ext>
            </a:extLst>
          </p:cNvPr>
          <p:cNvSpPr>
            <a:spLocks noGrp="1"/>
          </p:cNvSpPr>
          <p:nvPr/>
        </p:nvSpPr>
        <p:spPr>
          <a:xfrm>
            <a:off x="8572500" y="4324350"/>
            <a:ext cx="276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167"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Protect the May 2023 scope boundary</a:t>
            </a:r>
          </a:p>
        </p:txBody>
      </p:sp>
    </p:spTree>
    <p:extLst>
      <p:ext uri="{BB962C8B-B14F-4D97-AF65-F5344CB8AC3E}">
        <p14:creationId xmlns:p14="http://schemas.microsoft.com/office/powerpoint/2010/main" val="1017161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title">
            <a:extLst>
              <a:ext uri="{FF2B5EF4-FFF2-40B4-BE49-F238E27FC236}">
                <a16:creationId xmlns:a16="http://schemas.microsoft.com/office/drawing/2014/main" id="{5203F8EB-41FF-40D2-A92C-FCB387EC159F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056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launch sequence reduced risk before full customer exposure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CAD584-BDD3-4152-91F4-D38A0C864469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A37794-617A-49B5-8D2D-A71D389BFCFB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0ECEDB-DE06-428D-8393-0DA8D4DBAD58}"/>
              </a:ext>
            </a:extLst>
          </p:cNvPr>
          <p:cNvSpPr>
            <a:spLocks noGrp="1"/>
          </p:cNvSpPr>
          <p:nvPr/>
        </p:nvSpPr>
        <p:spPr>
          <a:xfrm>
            <a:off x="2667000" y="3000375"/>
            <a:ext cx="666750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B9CE0A-1384-4590-8213-28D5452F2456}"/>
              </a:ext>
            </a:extLst>
          </p:cNvPr>
          <p:cNvSpPr>
            <a:spLocks noGrp="1"/>
          </p:cNvSpPr>
          <p:nvPr/>
        </p:nvSpPr>
        <p:spPr>
          <a:xfrm>
            <a:off x="5476875" y="3000375"/>
            <a:ext cx="666750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BA7861-8BEB-4B85-B5A8-68FE6B0AECE4}"/>
              </a:ext>
            </a:extLst>
          </p:cNvPr>
          <p:cNvSpPr>
            <a:spLocks noGrp="1"/>
          </p:cNvSpPr>
          <p:nvPr/>
        </p:nvSpPr>
        <p:spPr>
          <a:xfrm>
            <a:off x="8286750" y="3000375"/>
            <a:ext cx="666750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4973B9-69B8-4BC5-9E95-45AC36849113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2286000" cy="2571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C8E2ED-37E3-48AD-84EF-BFC1A700FA22}"/>
              </a:ext>
            </a:extLst>
          </p:cNvPr>
          <p:cNvSpPr>
            <a:spLocks noGrp="1"/>
          </p:cNvSpPr>
          <p:nvPr/>
        </p:nvSpPr>
        <p:spPr>
          <a:xfrm>
            <a:off x="733425" y="21907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ctr">
              <a:defRPr sz="15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1  PILOT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80872E-772A-4B9D-AFDD-5277EE1C2479}"/>
              </a:ext>
            </a:extLst>
          </p:cNvPr>
          <p:cNvSpPr>
            <a:spLocks noGrp="1"/>
          </p:cNvSpPr>
          <p:nvPr/>
        </p:nvSpPr>
        <p:spPr>
          <a:xfrm>
            <a:off x="733425" y="2714625"/>
            <a:ext cx="18669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875"/>
          </a:bodyPr>
          <a:lstStyle/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Select representative companies</a:t>
            </a:r>
          </a:p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Confirm workflows and permissions</a:t>
            </a:r>
          </a:p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Capture critical defects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C0217D-15F7-4F9C-9878-080519E6040C}"/>
              </a:ext>
            </a:extLst>
          </p:cNvPr>
          <p:cNvSpPr>
            <a:spLocks noGrp="1"/>
          </p:cNvSpPr>
          <p:nvPr/>
        </p:nvSpPr>
        <p:spPr>
          <a:xfrm>
            <a:off x="3333750" y="1952625"/>
            <a:ext cx="2286000" cy="2571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902B5F-6822-4989-B153-217C8FF3EC18}"/>
              </a:ext>
            </a:extLst>
          </p:cNvPr>
          <p:cNvSpPr>
            <a:spLocks noGrp="1"/>
          </p:cNvSpPr>
          <p:nvPr/>
        </p:nvSpPr>
        <p:spPr>
          <a:xfrm>
            <a:off x="3543300" y="21907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ctr">
              <a:defRPr sz="15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2  ENABLE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3B5DE1-81E5-4AD9-A0A0-85A3A751A486}"/>
              </a:ext>
            </a:extLst>
          </p:cNvPr>
          <p:cNvSpPr>
            <a:spLocks noGrp="1"/>
          </p:cNvSpPr>
          <p:nvPr/>
        </p:nvSpPr>
        <p:spPr>
          <a:xfrm>
            <a:off x="3543300" y="2714625"/>
            <a:ext cx="18669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964"/>
          </a:bodyPr>
          <a:lstStyle/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 users and approvers</a:t>
            </a:r>
          </a:p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Publish guides and support paths</a:t>
            </a:r>
          </a:p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Confirm data readiness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C73EDA-9E33-420A-BF69-78BA02A59BE9}"/>
              </a:ext>
            </a:extLst>
          </p:cNvPr>
          <p:cNvSpPr>
            <a:spLocks noGrp="1"/>
          </p:cNvSpPr>
          <p:nvPr/>
        </p:nvSpPr>
        <p:spPr>
          <a:xfrm>
            <a:off x="6143625" y="1952625"/>
            <a:ext cx="2286000" cy="2571750"/>
          </a:xfrm>
          <a:prstGeom prst="rect">
            <a:avLst/>
          </a:prstGeom>
          <a:solidFill>
            <a:srgbClr val="E8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A1EC33-5A7E-4EEA-BB07-535DB215B4E4}"/>
              </a:ext>
            </a:extLst>
          </p:cNvPr>
          <p:cNvSpPr>
            <a:spLocks noGrp="1"/>
          </p:cNvSpPr>
          <p:nvPr/>
        </p:nvSpPr>
        <p:spPr>
          <a:xfrm>
            <a:off x="6353175" y="21907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  LAUNCH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54A315-5394-48F6-A43F-F0AE2272683A}"/>
              </a:ext>
            </a:extLst>
          </p:cNvPr>
          <p:cNvSpPr>
            <a:spLocks noGrp="1"/>
          </p:cNvSpPr>
          <p:nvPr/>
        </p:nvSpPr>
        <p:spPr>
          <a:xfrm>
            <a:off x="6353175" y="2714625"/>
            <a:ext cx="18669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901"/>
          </a:bodyPr>
          <a:lstStyle/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Phased production access</a:t>
            </a:r>
          </a:p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Daily adoption monitoring</a:t>
            </a:r>
          </a:p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Executive status updates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0E01D4-4D2C-4B31-9A22-F78140392173}"/>
              </a:ext>
            </a:extLst>
          </p:cNvPr>
          <p:cNvSpPr>
            <a:spLocks noGrp="1"/>
          </p:cNvSpPr>
          <p:nvPr/>
        </p:nvSpPr>
        <p:spPr>
          <a:xfrm>
            <a:off x="8953500" y="1952625"/>
            <a:ext cx="2286000" cy="2571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3C2F47-97EA-42DB-AB60-2CD9C1CC809F}"/>
              </a:ext>
            </a:extLst>
          </p:cNvPr>
          <p:cNvSpPr>
            <a:spLocks noGrp="1"/>
          </p:cNvSpPr>
          <p:nvPr/>
        </p:nvSpPr>
        <p:spPr>
          <a:xfrm>
            <a:off x="9163050" y="21907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ctr">
              <a:defRPr sz="15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4  HYPERCARE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40CB3A-B8E2-475A-9943-1717A1398B4E}"/>
              </a:ext>
            </a:extLst>
          </p:cNvPr>
          <p:cNvSpPr>
            <a:spLocks noGrp="1"/>
          </p:cNvSpPr>
          <p:nvPr/>
        </p:nvSpPr>
        <p:spPr>
          <a:xfrm>
            <a:off x="9163050" y="2714625"/>
            <a:ext cx="18669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836"/>
          </a:bodyPr>
          <a:lstStyle/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Prioritize launch issues</a:t>
            </a:r>
          </a:p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 self-service behavior</a:t>
            </a:r>
          </a:p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Move enhancements to backlog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5AAF1B-596A-42D0-B57D-D78E63E4D023}"/>
              </a:ext>
            </a:extLst>
          </p:cNvPr>
          <p:cNvSpPr>
            <a:spLocks noGrp="1"/>
          </p:cNvSpPr>
          <p:nvPr/>
        </p:nvSpPr>
        <p:spPr>
          <a:xfrm>
            <a:off x="523875" y="50958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6667"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Go / no-go criteria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DDE286-798D-4413-A74F-6EC25EB0DE44}"/>
              </a:ext>
            </a:extLst>
          </p:cNvPr>
          <p:cNvSpPr>
            <a:spLocks noGrp="1"/>
          </p:cNvSpPr>
          <p:nvPr/>
        </p:nvSpPr>
        <p:spPr>
          <a:xfrm>
            <a:off x="523875" y="5476875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526"/>
          </a:bodyPr>
          <a:lstStyle/>
          <a:p>
            <a:pPr algn="l">
              <a:defRPr sz="15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No critical security defects • core booking flow passed • credit data reconciled • support team ready • pilot acceptance received</a:t>
            </a:r>
          </a:p>
        </p:txBody>
      </p:sp>
    </p:spTree>
    <p:extLst>
      <p:ext uri="{BB962C8B-B14F-4D97-AF65-F5344CB8AC3E}">
        <p14:creationId xmlns:p14="http://schemas.microsoft.com/office/powerpoint/2010/main" val="921621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title">
            <a:extLst>
              <a:ext uri="{FF2B5EF4-FFF2-40B4-BE49-F238E27FC236}">
                <a16:creationId xmlns:a16="http://schemas.microsoft.com/office/drawing/2014/main" id="{1CDBA24C-AEDA-4ED0-8DF3-2E95F8DD547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101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Illustrative 90-day metrics show how MVP success would be measured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DDC9F3-11BD-4068-BCB8-1DC46221D37A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323B1F-FEE8-4E05-BFB3-2787A1957DBB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11D625-77F3-442A-B0DD-E79FAB2191D1}"/>
              </a:ext>
            </a:extLst>
          </p:cNvPr>
          <p:cNvSpPr>
            <a:spLocks noGrp="1"/>
          </p:cNvSpPr>
          <p:nvPr/>
        </p:nvSpPr>
        <p:spPr>
          <a:xfrm>
            <a:off x="400050" y="1666875"/>
            <a:ext cx="2476500" cy="16668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451C6F-B9A2-43AA-8837-0DBA60C85366}"/>
              </a:ext>
            </a:extLst>
          </p:cNvPr>
          <p:cNvSpPr>
            <a:spLocks noGrp="1"/>
          </p:cNvSpPr>
          <p:nvPr/>
        </p:nvSpPr>
        <p:spPr>
          <a:xfrm>
            <a:off x="590550" y="1952625"/>
            <a:ext cx="2095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75%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D5454C-98EB-4826-827A-E0FDF88F8824}"/>
              </a:ext>
            </a:extLst>
          </p:cNvPr>
          <p:cNvSpPr>
            <a:spLocks noGrp="1"/>
          </p:cNvSpPr>
          <p:nvPr/>
        </p:nvSpPr>
        <p:spPr>
          <a:xfrm>
            <a:off x="590550" y="271462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activation rate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0CC429-0CB3-4289-A0F1-E31C04ED2D7C}"/>
              </a:ext>
            </a:extLst>
          </p:cNvPr>
          <p:cNvSpPr>
            <a:spLocks noGrp="1"/>
          </p:cNvSpPr>
          <p:nvPr/>
        </p:nvSpPr>
        <p:spPr>
          <a:xfrm>
            <a:off x="3257550" y="1666875"/>
            <a:ext cx="2476500" cy="16668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51EBB0-7036-4EFF-AB34-0B832C0B171B}"/>
              </a:ext>
            </a:extLst>
          </p:cNvPr>
          <p:cNvSpPr>
            <a:spLocks noGrp="1"/>
          </p:cNvSpPr>
          <p:nvPr/>
        </p:nvSpPr>
        <p:spPr>
          <a:xfrm>
            <a:off x="3448050" y="1952625"/>
            <a:ext cx="2095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60%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91DDCF-EA77-4B1F-8274-C656D493CA6C}"/>
              </a:ext>
            </a:extLst>
          </p:cNvPr>
          <p:cNvSpPr>
            <a:spLocks noGrp="1"/>
          </p:cNvSpPr>
          <p:nvPr/>
        </p:nvSpPr>
        <p:spPr>
          <a:xfrm>
            <a:off x="3448050" y="271462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eligible-user adoption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EE61B6-682D-45DB-AE90-85AE794A5587}"/>
              </a:ext>
            </a:extLst>
          </p:cNvPr>
          <p:cNvSpPr>
            <a:spLocks noGrp="1"/>
          </p:cNvSpPr>
          <p:nvPr/>
        </p:nvSpPr>
        <p:spPr>
          <a:xfrm>
            <a:off x="6115050" y="1666875"/>
            <a:ext cx="2476500" cy="16668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5F131E-2FDE-49E0-AAF3-2A813DA2F74D}"/>
              </a:ext>
            </a:extLst>
          </p:cNvPr>
          <p:cNvSpPr>
            <a:spLocks noGrp="1"/>
          </p:cNvSpPr>
          <p:nvPr/>
        </p:nvSpPr>
        <p:spPr>
          <a:xfrm>
            <a:off x="6305550" y="1952625"/>
            <a:ext cx="2095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68%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BEB5D3-BE0A-4555-B00D-7815BF66BF74}"/>
              </a:ext>
            </a:extLst>
          </p:cNvPr>
          <p:cNvSpPr>
            <a:spLocks noGrp="1"/>
          </p:cNvSpPr>
          <p:nvPr/>
        </p:nvSpPr>
        <p:spPr>
          <a:xfrm>
            <a:off x="6305550" y="271462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836"/>
          </a:bodyPr>
          <a:lstStyle/>
          <a:p>
            <a:pPr algn="ctr">
              <a:defRPr sz="13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self-service booking share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6D7794-8DDA-44BF-B1E2-AA8B66FEA891}"/>
              </a:ext>
            </a:extLst>
          </p:cNvPr>
          <p:cNvSpPr>
            <a:spLocks noGrp="1"/>
          </p:cNvSpPr>
          <p:nvPr/>
        </p:nvSpPr>
        <p:spPr>
          <a:xfrm>
            <a:off x="8972550" y="1666875"/>
            <a:ext cx="2476500" cy="1666875"/>
          </a:xfrm>
          <a:prstGeom prst="rect">
            <a:avLst/>
          </a:prstGeom>
          <a:solidFill>
            <a:srgbClr val="E8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C40449-F217-466A-AAC1-B3ACF2A49425}"/>
              </a:ext>
            </a:extLst>
          </p:cNvPr>
          <p:cNvSpPr>
            <a:spLocks noGrp="1"/>
          </p:cNvSpPr>
          <p:nvPr/>
        </p:nvSpPr>
        <p:spPr>
          <a:xfrm>
            <a:off x="9163050" y="1952625"/>
            <a:ext cx="2095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82%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187847-3C4D-4C0A-AB2C-9F7E01A5EF61}"/>
              </a:ext>
            </a:extLst>
          </p:cNvPr>
          <p:cNvSpPr>
            <a:spLocks noGrp="1"/>
          </p:cNvSpPr>
          <p:nvPr/>
        </p:nvSpPr>
        <p:spPr>
          <a:xfrm>
            <a:off x="9163050" y="271462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447"/>
          </a:bodyPr>
          <a:lstStyle/>
          <a:p>
            <a:pPr algn="ctr">
              <a:defRPr sz="13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shorter booking turnaround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="400050" y="3810000"/>
          <a:ext cx="6667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A2D2FB78-844F-4515-8271-493C26139C76}"/>
              </a:ext>
            </a:extLst>
          </p:cNvPr>
          <p:cNvSpPr>
            <a:spLocks noGrp="1"/>
          </p:cNvSpPr>
          <p:nvPr/>
        </p:nvSpPr>
        <p:spPr>
          <a:xfrm>
            <a:off x="7810500" y="39052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722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Operational effect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B09E71-BED0-4B44-94C2-2C8816C3F7D2}"/>
              </a:ext>
            </a:extLst>
          </p:cNvPr>
          <p:cNvSpPr>
            <a:spLocks noGrp="1"/>
          </p:cNvSpPr>
          <p:nvPr/>
        </p:nvSpPr>
        <p:spPr>
          <a:xfrm>
            <a:off x="7810500" y="4429125"/>
            <a:ext cx="3333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56"/>
          </a:bodyPr>
          <a:lstStyle/>
          <a:p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45 → 8 min</a:t>
            </a:r>
          </a:p>
          <a:p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booking turnaround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A967A3-119E-475A-BEF4-571DBA006D54}"/>
              </a:ext>
            </a:extLst>
          </p:cNvPr>
          <p:cNvSpPr>
            <a:spLocks noGrp="1"/>
          </p:cNvSpPr>
          <p:nvPr/>
        </p:nvSpPr>
        <p:spPr>
          <a:xfrm>
            <a:off x="7810500" y="5286375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769"/>
          </a:bodyPr>
          <a:lstStyle/>
          <a:p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18% → 6%</a:t>
            </a:r>
          </a:p>
          <a:p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requote/error rate</a:t>
            </a:r>
          </a:p>
        </p:txBody>
      </p:sp>
    </p:spTree>
    <p:extLst>
      <p:ext uri="{BB962C8B-B14F-4D97-AF65-F5344CB8AC3E}">
        <p14:creationId xmlns:p14="http://schemas.microsoft.com/office/powerpoint/2010/main" val="14288512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</Words>
  <Application>Microsoft Macintosh PowerPoint</Application>
  <DocSecurity>0</DocSecurity>
  <PresentationFormat>Widescreen</PresentationFormat>
  <Paragraphs>207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Agnes Abiodun Iwaye</cp:lastModifiedBy>
  <cp:revision>1</cp:revision>
  <dcterms:created xsi:type="dcterms:W3CDTF">2026-09-01T18:27:53Z</dcterms:created>
  <dcterms:modified xsi:type="dcterms:W3CDTF">2026-09-01T22:11:02Z</dcterms:modified>
</cp:coreProperties>
</file>